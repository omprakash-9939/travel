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966960" y="0"/>
            <a:ext cx="2221992" cy="6858000"/>
          </a:xfrm>
          <a:prstGeom prst="rect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66960" y="0"/>
            <a:ext cx="109728" cy="6858000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22960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50424" y="1389888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88167" y="1956816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25911" y="2523744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63655" y="3090672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1400" y="3657600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9144" y="4224528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76888" y="4791456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914632" y="5358384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>
            <a:off x="11475720" y="5440680"/>
            <a:ext cx="310896" cy="310896"/>
          </a:xfrm>
          <a:prstGeom prst="triangl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05156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19C3B1"/>
                </a:solidFill>
                <a:latin typeface="Segoe UI Semibold"/>
              </a:rPr>
              <a:t>PRODUCT PITCH  ·  STAKEHOLDER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783080"/>
            <a:ext cx="9144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Segoe UI Semibold"/>
              </a:rPr>
              <a:t>Knowing What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Segoe UI Semibold"/>
              </a:rPr>
              <a:t>the Traveler </a:t>
            </a:r>
            <a:r>
              <a:rPr sz="5200" b="1">
                <a:solidFill>
                  <a:srgbClr val="FF6B5C"/>
                </a:solidFill>
                <a:latin typeface="Segoe UI Semibold"/>
              </a:rPr>
              <a:t>Wants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19C3B1"/>
                </a:solidFill>
                <a:latin typeface="Segoe UI Semibold"/>
              </a:rPr>
              <a:t>— before they ask.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2628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9D6E3"/>
                </a:solidFill>
                <a:latin typeface="Segoe UI"/>
              </a:rPr>
              <a:t>A smart engine that learns what each traveler wants — and turns searches into bookings.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40680"/>
            <a:ext cx="3108960" cy="41148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62356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DataArt Travel  </a:t>
            </a:r>
            <a:r>
              <a:rPr sz="1400" b="0">
                <a:solidFill>
                  <a:srgbClr val="9FB1C4"/>
                </a:solidFill>
                <a:latin typeface="Segoe UI"/>
              </a:rPr>
              <a:t>·  MERN Personalization Squad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6B5C"/>
                </a:solidFill>
                <a:latin typeface="Segoe UI Semibold"/>
              </a:rPr>
              <a:t>MEET MAYA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She is ready to book. We just can't see 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350215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148839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19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2330"/>
                </a:solidFill>
                <a:latin typeface="Segoe UI Semibold"/>
              </a:rPr>
              <a:t>Maya searches Delhi -&gt; Barcelona. Looks at 6 flights.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31919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Segoe UI"/>
              </a:rPr>
              <a:t>She leaves to check prices elsewhere.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874519"/>
            <a:ext cx="350215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26864" y="2148839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Wed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788919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2330"/>
                </a:solidFill>
                <a:latin typeface="Segoe UI Semibold"/>
              </a:rPr>
              <a:t>She comes back. Searches Barcelona again. Saves a hotel.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3931919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Segoe UI"/>
              </a:rPr>
              <a:t>Her interest is clearly growing.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874519"/>
            <a:ext cx="350215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48839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88919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2330"/>
                </a:solidFill>
                <a:latin typeface="Segoe UI Semibold"/>
              </a:rPr>
              <a:t>She opens a rival app first — they remembered 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3931919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Segoe UI"/>
              </a:rPr>
              <a:t>We showed her the same page as everyone.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10725912" cy="105156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02352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The signs were there the whole time. </a:t>
            </a:r>
            <a:r>
              <a:rPr sz="1800" b="0">
                <a:solidFill>
                  <a:srgbClr val="C9D6E3"/>
                </a:solidFill>
                <a:latin typeface="Segoe UI"/>
              </a:rPr>
              <a:t>Maya isn't a lost cause — she's a missed </a:t>
            </a:r>
            <a:r>
              <a:rPr sz="1800" b="1">
                <a:solidFill>
                  <a:srgbClr val="19C3B1"/>
                </a:solidFill>
                <a:latin typeface="Segoe UI Semibold"/>
              </a:rPr>
              <a:t>chance</a:t>
            </a:r>
            <a:r>
              <a:rPr sz="1800" b="0">
                <a:solidFill>
                  <a:srgbClr val="C9D6E3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6B5C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Ready-to-book travelers leave — and we never learn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Segoe UI"/>
              </a:rPr>
              <a:t>People who clearly want to book end up leaving. Right now we have no way to spot them, win them back, or learn from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5285232" cy="1673352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670048"/>
            <a:ext cx="82296" cy="1280160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We can't see early visitors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82112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We don't track people before they log in. So we miss most of what they do on the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68880"/>
            <a:ext cx="5285232" cy="1673352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670048"/>
            <a:ext cx="82296" cy="128016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6700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Right message, wrong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82112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Our reminders can arrive up to 2 hours late — long after the person has moved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25112"/>
            <a:ext cx="5285232" cy="1673352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26280"/>
            <a:ext cx="82296" cy="1280160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5262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We risk losing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038344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"Prices dropped 7%" alerts are made up, not real. That can break trust and even cause legal trouble.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325112"/>
            <a:ext cx="5285232" cy="1673352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526280"/>
            <a:ext cx="82296" cy="1280160"/>
          </a:xfrm>
          <a:prstGeom prst="rect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5262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We don't measure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038344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We can't tell if a reminder led to a booking. Without numbers, we can't prove anything works.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696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 Semibold"/>
              </a:rPr>
              <a:t>Every visitor we ignore is money walking out the door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517904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502152" cy="2331720"/>
          </a:xfrm>
          <a:prstGeom prst="roundRect">
            <a:avLst>
              <a:gd name="adj" fmla="val 7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2258568"/>
            <a:ext cx="64008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6B5C"/>
                </a:solidFill>
                <a:latin typeface="Segoe UI Semibold"/>
              </a:rPr>
              <a:t>~98%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33756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6E3"/>
                </a:solidFill>
                <a:latin typeface="Segoe UI"/>
              </a:rPr>
              <a:t>of people who search never book on a normal travel site. That's our 2% starting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65960"/>
            <a:ext cx="3502152" cy="2331720"/>
          </a:xfrm>
          <a:prstGeom prst="roundRect">
            <a:avLst>
              <a:gd name="adj" fmla="val 7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2258568"/>
            <a:ext cx="640080" cy="82296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4688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9C3B1"/>
                </a:solidFill>
                <a:latin typeface="Segoe UI Semibold"/>
              </a:rPr>
              <a:t>+8–18%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33756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6E3"/>
                </a:solidFill>
                <a:latin typeface="Segoe UI"/>
              </a:rPr>
              <a:t>more bookings reported when travel sites win back returning visitors.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965960"/>
            <a:ext cx="3502152" cy="2331720"/>
          </a:xfrm>
          <a:prstGeom prst="roundRect">
            <a:avLst>
              <a:gd name="adj" fmla="val 7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7888" y="2258568"/>
            <a:ext cx="640080" cy="82296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B34D"/>
                </a:solidFill>
                <a:latin typeface="Segoe UI Semibold"/>
              </a:rPr>
              <a:t>Rs.1.7–2.8L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333756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6E3"/>
                </a:solidFill>
                <a:latin typeface="Segoe UI"/>
              </a:rPr>
              <a:t>extra money each month at our middle estimate (2,000 searches a month).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 system already exists in our code. </a:t>
            </a:r>
            <a:r>
              <a:rPr sz="1600" b="0">
                <a:solidFill>
                  <a:srgbClr val="B8C7D6"/>
                </a:solidFill>
                <a:latin typeface="Segoe UI"/>
              </a:rPr>
              <a:t>What's missing is the work to fix the data, measure the results, and act at the right moment. That's exactly what this product does.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7C91A8"/>
                </a:solidFill>
                <a:latin typeface="Segoe UI"/>
              </a:rPr>
              <a:t>These numbers are industry averages (McKinsey 2023, Salesforce 2024), not our own data yet. We will replace them with our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A simple engine that listens, learns, and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Segoe UI"/>
              </a:rPr>
              <a:t>Every action becomes a clue. Clues add up to an interest score. The score tells us the right thing to do — at the right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14600"/>
            <a:ext cx="2615184" cy="2743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807208"/>
            <a:ext cx="640080" cy="640080"/>
          </a:xfrm>
          <a:prstGeom prst="ellips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118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Segoe UI Semibold"/>
              </a:rPr>
              <a:t>LISTEN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087368"/>
            <a:ext cx="2121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We watch searches, views, saved items, and bookings as they happen.</a:t>
            </a:r>
          </a:p>
        </p:txBody>
      </p:sp>
      <p:sp>
        <p:nvSpPr>
          <p:cNvPr id="10" name="Chevron 9"/>
          <p:cNvSpPr/>
          <p:nvPr/>
        </p:nvSpPr>
        <p:spPr>
          <a:xfrm>
            <a:off x="3328416" y="3657600"/>
            <a:ext cx="164592" cy="164592"/>
          </a:xfrm>
          <a:prstGeom prst="chevron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65576" y="2514600"/>
            <a:ext cx="2615184" cy="2743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39896" y="2807208"/>
            <a:ext cx="640080" cy="640080"/>
          </a:xfrm>
          <a:prstGeom prst="ellipse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36118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Segoe UI Semibold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4087368"/>
            <a:ext cx="2121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We turn those actions into a 0–100 score: low, medium, or high.</a:t>
            </a:r>
          </a:p>
        </p:txBody>
      </p:sp>
      <p:sp>
        <p:nvSpPr>
          <p:cNvPr id="15" name="Chevron 14"/>
          <p:cNvSpPr/>
          <p:nvPr/>
        </p:nvSpPr>
        <p:spPr>
          <a:xfrm>
            <a:off x="6062472" y="3657600"/>
            <a:ext cx="164592" cy="164592"/>
          </a:xfrm>
          <a:prstGeom prst="chevron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9632" y="2514600"/>
            <a:ext cx="2615184" cy="2743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952" y="2807208"/>
            <a:ext cx="640080" cy="640080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6118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Segoe UI Semibold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087368"/>
            <a:ext cx="2121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We find where they want to go and pick the right next step.</a:t>
            </a:r>
          </a:p>
        </p:txBody>
      </p:sp>
      <p:sp>
        <p:nvSpPr>
          <p:cNvPr id="20" name="Chevron 19"/>
          <p:cNvSpPr/>
          <p:nvPr/>
        </p:nvSpPr>
        <p:spPr>
          <a:xfrm>
            <a:off x="8796528" y="3657600"/>
            <a:ext cx="164592" cy="164592"/>
          </a:xfrm>
          <a:prstGeom prst="chevron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33688" y="2514600"/>
            <a:ext cx="2615184" cy="2743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08008" y="2807208"/>
            <a:ext cx="640080" cy="640080"/>
          </a:xfrm>
          <a:prstGeom prst="ellipse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36118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Segoe UI Semibold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4087368"/>
            <a:ext cx="2121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2330"/>
                </a:solidFill>
                <a:latin typeface="Segoe UI"/>
              </a:rPr>
              <a:t>We send a reminder, a "Continue Planning" card, or a follow-up email.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6B5C"/>
                </a:solidFill>
                <a:latin typeface="Segoe UI Semibold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From a click to a booking — how it 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993392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993392" cy="118872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A47"/>
                </a:solidFill>
                <a:latin typeface="Segoe UI Semibold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17556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search · view · save · book</a:t>
            </a:r>
          </a:p>
        </p:txBody>
      </p:sp>
      <p:sp>
        <p:nvSpPr>
          <p:cNvPr id="9" name="Chevron 8"/>
          <p:cNvSpPr/>
          <p:nvPr/>
        </p:nvSpPr>
        <p:spPr>
          <a:xfrm>
            <a:off x="2738628" y="2377440"/>
            <a:ext cx="182880" cy="310896"/>
          </a:xfrm>
          <a:prstGeom prst="chevron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16936" y="1920240"/>
            <a:ext cx="1993392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16936" y="1920240"/>
            <a:ext cx="1993392" cy="118872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21762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A47"/>
                </a:solidFill>
                <a:latin typeface="Segoe UI Semibold"/>
              </a:rPr>
              <a:t>Activity tracker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2596896"/>
            <a:ext cx="17556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records each action + spots repeat searches</a:t>
            </a:r>
          </a:p>
        </p:txBody>
      </p:sp>
      <p:sp>
        <p:nvSpPr>
          <p:cNvPr id="14" name="Chevron 13"/>
          <p:cNvSpPr/>
          <p:nvPr/>
        </p:nvSpPr>
        <p:spPr>
          <a:xfrm>
            <a:off x="4924044" y="2377440"/>
            <a:ext cx="182880" cy="310896"/>
          </a:xfrm>
          <a:prstGeom prst="chevron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02352" y="1920240"/>
            <a:ext cx="1993392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2352" y="1920240"/>
            <a:ext cx="1993392" cy="118872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21762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A47"/>
                </a:solidFill>
                <a:latin typeface="Segoe UI Semibold"/>
              </a:rPr>
              <a:t>Interest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2596896"/>
            <a:ext cx="17556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0–100, level, where they want to go</a:t>
            </a:r>
          </a:p>
        </p:txBody>
      </p:sp>
      <p:sp>
        <p:nvSpPr>
          <p:cNvPr id="19" name="Chevron 18"/>
          <p:cNvSpPr/>
          <p:nvPr/>
        </p:nvSpPr>
        <p:spPr>
          <a:xfrm>
            <a:off x="7109460" y="2377440"/>
            <a:ext cx="182880" cy="310896"/>
          </a:xfrm>
          <a:prstGeom prst="chevron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87768" y="1920240"/>
            <a:ext cx="1993392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87768" y="1920240"/>
            <a:ext cx="1993392" cy="118872"/>
          </a:xfrm>
          <a:prstGeom prst="rect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21762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A47"/>
                </a:solidFill>
                <a:latin typeface="Segoe UI Semibold"/>
              </a:rPr>
              <a:t>Decision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596896"/>
            <a:ext cx="17556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score + no spam + test group</a:t>
            </a:r>
          </a:p>
        </p:txBody>
      </p:sp>
      <p:sp>
        <p:nvSpPr>
          <p:cNvPr id="24" name="Chevron 23"/>
          <p:cNvSpPr/>
          <p:nvPr/>
        </p:nvSpPr>
        <p:spPr>
          <a:xfrm>
            <a:off x="9294876" y="2377440"/>
            <a:ext cx="182880" cy="310896"/>
          </a:xfrm>
          <a:prstGeom prst="chevron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73184" y="1920240"/>
            <a:ext cx="1993392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73184" y="1920240"/>
            <a:ext cx="1993392" cy="11887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37776" y="21762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A47"/>
                </a:solidFill>
                <a:latin typeface="Segoe UI Semibold"/>
              </a:rPr>
              <a:t>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2596896"/>
            <a:ext cx="17556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reminder · card · email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65760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3913632"/>
            <a:ext cx="502920" cy="82296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078224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Fast when 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55371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2330"/>
                </a:solidFill>
                <a:latin typeface="Segoe UI"/>
              </a:rPr>
              <a:t>Reminders show up while the person is still on the site — not 2 hours later.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365760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99432" y="3913632"/>
            <a:ext cx="50292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4078224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Honest by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55371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2330"/>
                </a:solidFill>
                <a:latin typeface="Segoe UI"/>
              </a:rPr>
              <a:t>Fake price alerts stay OFF until we have real price data. No made-up urgency.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80" y="365760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11312" y="3913632"/>
            <a:ext cx="502920" cy="82296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078224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Built to be measured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55371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2330"/>
                </a:solidFill>
                <a:latin typeface="Segoe UI"/>
              </a:rPr>
              <a:t>We hold back 20% of users as a test group, so we can prove it really works.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65099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Segoe UI"/>
              </a:rPr>
              <a:t>Built with: React · Express · MongoDB — plus Amadeus, SendGrid, Stripe and Razorpay.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6B5C"/>
                </a:solidFill>
                <a:latin typeface="Segoe UI Semibold"/>
              </a:rPr>
              <a:t>WHAT TRAVELERS FEEL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Four features that do the work behind the scenes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85232" cy="1993392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2148840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9456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Continue Planning 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330"/>
                </a:solidFill>
                <a:latin typeface="Segoe UI"/>
              </a:rPr>
              <a:t>When she returns, the home page shows the exact search she left — no typing again.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85232" cy="1993392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92240" y="2148840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19456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Timely reminder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7180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330"/>
                </a:solidFill>
                <a:latin typeface="Segoe UI"/>
              </a:rPr>
              <a:t>"Still planning Barcelona?" reaches interested users right away — and never spams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05072"/>
            <a:ext cx="5285232" cy="1993392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4325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70832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Smart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48072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330"/>
                </a:solidFill>
                <a:latin typeface="Segoe UI"/>
              </a:rPr>
              <a:t>The home page shows where she wants to go now — not a trip from months ago.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005072"/>
            <a:ext cx="5285232" cy="1993392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4325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370832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Bring them back by 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148072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330"/>
                </a:solidFill>
                <a:latin typeface="Segoe UI"/>
              </a:rPr>
              <a:t>When her interest grows enough, a friendly email brings her back — even after she leaves.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THE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The numbers work once we have real traffic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286000" cy="38404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250" b="1">
                <a:solidFill>
                  <a:srgbClr val="FFFFFF"/>
                </a:solidFill>
                <a:latin typeface="Segoe UI Semibold"/>
              </a:rPr>
              <a:t>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828800"/>
            <a:ext cx="2194560" cy="38404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 Semibold"/>
              </a:rPr>
              <a:t>Searches /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828800"/>
            <a:ext cx="1828800" cy="38404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 Semibold"/>
              </a:rPr>
              <a:t>More bookings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28800"/>
            <a:ext cx="2862072" cy="38404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 Semibold"/>
              </a:rPr>
              <a:t>Extra money /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9902952" y="1828800"/>
            <a:ext cx="1554480" cy="38404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 Semibold"/>
              </a:rPr>
              <a:t>Pays back 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12848"/>
            <a:ext cx="228600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0E2A47"/>
                </a:solidFill>
                <a:latin typeface="Segoe UI Semibold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212848"/>
            <a:ext cx="219456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2212848"/>
            <a:ext cx="182880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+8%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2212848"/>
            <a:ext cx="2862072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Rs. 35k – 70k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02952" y="2212848"/>
            <a:ext cx="155448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3–8 months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26080"/>
            <a:ext cx="2286000" cy="713232"/>
          </a:xfrm>
          <a:prstGeom prst="rect">
            <a:avLst/>
          </a:prstGeom>
          <a:solidFill>
            <a:srgbClr val="19C3B1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Segoe UI Semibold"/>
              </a:rPr>
              <a:t>Middle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926080"/>
            <a:ext cx="2194560" cy="713232"/>
          </a:xfrm>
          <a:prstGeom prst="rect">
            <a:avLst/>
          </a:prstGeom>
          <a:solidFill>
            <a:srgbClr val="E8F8F6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1">
                <a:solidFill>
                  <a:srgbClr val="1A2330"/>
                </a:solidFill>
                <a:latin typeface="Segoe UI Semibold"/>
              </a:rPr>
              <a:t>2,000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2926080"/>
            <a:ext cx="1828800" cy="713232"/>
          </a:xfrm>
          <a:prstGeom prst="rect">
            <a:avLst/>
          </a:prstGeom>
          <a:solidFill>
            <a:srgbClr val="E8F8F6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1">
                <a:solidFill>
                  <a:srgbClr val="1A2330"/>
                </a:solidFill>
                <a:latin typeface="Segoe UI Semibold"/>
              </a:rPr>
              <a:t>+12%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926080"/>
            <a:ext cx="2862072" cy="713232"/>
          </a:xfrm>
          <a:prstGeom prst="rect">
            <a:avLst/>
          </a:prstGeom>
          <a:solidFill>
            <a:srgbClr val="E8F8F6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1">
                <a:solidFill>
                  <a:srgbClr val="1A2330"/>
                </a:solidFill>
                <a:latin typeface="Segoe UI Semibold"/>
              </a:rPr>
              <a:t>Rs. 1.75L – 2.8L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02952" y="2926080"/>
            <a:ext cx="1554480" cy="713232"/>
          </a:xfrm>
          <a:prstGeom prst="rect">
            <a:avLst/>
          </a:prstGeom>
          <a:solidFill>
            <a:srgbClr val="E8F8F6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1">
                <a:solidFill>
                  <a:srgbClr val="1A2330"/>
                </a:solidFill>
                <a:latin typeface="Segoe UI Semibold"/>
              </a:rPr>
              <a:t>1–2 months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39312"/>
            <a:ext cx="228600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0E2A47"/>
                </a:solidFill>
                <a:latin typeface="Segoe UI Semibold"/>
              </a:rPr>
              <a:t>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3639312"/>
            <a:ext cx="219456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3639312"/>
            <a:ext cx="182880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+18%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639312"/>
            <a:ext cx="2862072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Rs. 4.2L – 7.0L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02952" y="3639312"/>
            <a:ext cx="1554480" cy="713232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300" b="0">
                <a:solidFill>
                  <a:srgbClr val="1A2330"/>
                </a:solidFill>
                <a:latin typeface="Segoe UI"/>
              </a:rPr>
              <a:t>&lt; 1 month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26280"/>
            <a:ext cx="10725912" cy="114300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526280"/>
            <a:ext cx="109728" cy="1143000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709160"/>
            <a:ext cx="10149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6B5C"/>
                </a:solidFill>
                <a:latin typeface="Segoe UI Semibold"/>
              </a:rPr>
              <a:t>In short:  </a:t>
            </a:r>
            <a:r>
              <a:rPr sz="1400" b="0">
                <a:solidFill>
                  <a:srgbClr val="1A2330"/>
                </a:solidFill>
                <a:latin typeface="Segoe UI"/>
              </a:rPr>
              <a:t>Phase 1 fixes cost only ~3 days and remove legal risk — they pay for themselves many times over. The money case gets strong above ~1,000 searches a month, paying back in 1–2 months in the middle case.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Based on Rs.35k average booking, a 2% starting rate, over 12 months. These are estimates, not promises — we will check them in Phase 2.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HOW WE GET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696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 Semibold"/>
              </a:rPr>
              <a:t>A simple step-by-step plan — value before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517904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331720"/>
            <a:ext cx="10332720" cy="45720"/>
          </a:xfrm>
          <a:prstGeom prst="rect">
            <a:avLst/>
          </a:prstGeom>
          <a:solidFill>
            <a:srgbClr val="2C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74520" y="2212848"/>
            <a:ext cx="274320" cy="274320"/>
          </a:xfrm>
          <a:prstGeom prst="ellips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2615184" cy="2880360"/>
          </a:xfrm>
          <a:prstGeom prst="roundRect">
            <a:avLst>
              <a:gd name="adj" fmla="val 6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953512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Remove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044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FF6B5C"/>
                </a:solidFill>
                <a:latin typeface="Segoe UI"/>
              </a:rPr>
              <a:t>Week 1 · ~3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25112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9D6E3"/>
                </a:solidFill>
                <a:latin typeface="Segoe UI"/>
              </a:rPr>
              <a:t>Fix the counting bugs, reset after a booking, stop fake price alerts, fix return detection.</a:t>
            </a:r>
          </a:p>
        </p:txBody>
      </p:sp>
      <p:sp>
        <p:nvSpPr>
          <p:cNvPr id="12" name="Oval 11"/>
          <p:cNvSpPr/>
          <p:nvPr/>
        </p:nvSpPr>
        <p:spPr>
          <a:xfrm>
            <a:off x="4608576" y="2212848"/>
            <a:ext cx="274320" cy="274320"/>
          </a:xfrm>
          <a:prstGeom prst="ellipse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5576" y="2697480"/>
            <a:ext cx="2615184" cy="2880360"/>
          </a:xfrm>
          <a:prstGeom prst="roundRect">
            <a:avLst>
              <a:gd name="adj" fmla="val 6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21608" y="2953512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2A47"/>
                </a:solidFill>
                <a:latin typeface="Segoe UI Semibold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Measure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39044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FFB34D"/>
                </a:solidFill>
                <a:latin typeface="Segoe UI"/>
              </a:rPr>
              <a:t>Weeks 2–3 · ~6–9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9896" y="4325112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9D6E3"/>
                </a:solidFill>
                <a:latin typeface="Segoe UI"/>
              </a:rPr>
              <a:t>Add a test group and track clicks, so we know what really works.</a:t>
            </a:r>
          </a:p>
        </p:txBody>
      </p:sp>
      <p:sp>
        <p:nvSpPr>
          <p:cNvPr id="18" name="Oval 17"/>
          <p:cNvSpPr/>
          <p:nvPr/>
        </p:nvSpPr>
        <p:spPr>
          <a:xfrm>
            <a:off x="7342632" y="2212848"/>
            <a:ext cx="274320" cy="274320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9632" y="2697480"/>
            <a:ext cx="2615184" cy="2880360"/>
          </a:xfrm>
          <a:prstGeom prst="roundRect">
            <a:avLst>
              <a:gd name="adj" fmla="val 6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55664" y="2953512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Deliver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9044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9C3B1"/>
                </a:solidFill>
                <a:latin typeface="Segoe UI"/>
              </a:rPr>
              <a:t>Weeks 4–8 · ~18–29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325112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9D6E3"/>
                </a:solidFill>
                <a:latin typeface="Segoe UI"/>
              </a:rPr>
              <a:t>Faster reminders, smarter recommendations, follow-up emails, a better first visit.</a:t>
            </a:r>
          </a:p>
        </p:txBody>
      </p:sp>
      <p:sp>
        <p:nvSpPr>
          <p:cNvPr id="24" name="Oval 23"/>
          <p:cNvSpPr/>
          <p:nvPr/>
        </p:nvSpPr>
        <p:spPr>
          <a:xfrm>
            <a:off x="10076688" y="2212848"/>
            <a:ext cx="274320" cy="274320"/>
          </a:xfrm>
          <a:prstGeom prst="ellipse">
            <a:avLst/>
          </a:prstGeom>
          <a:solidFill>
            <a:srgbClr val="7FB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33688" y="2697480"/>
            <a:ext cx="2615184" cy="2880360"/>
          </a:xfrm>
          <a:prstGeom prst="roundRect">
            <a:avLst>
              <a:gd name="adj" fmla="val 6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89720" y="2953512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7FB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8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Grow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39044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FB0E8"/>
                </a:solidFill>
                <a:latin typeface="Segoe UI"/>
              </a:rPr>
              <a:t>Month 3+ · ~28–40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4325112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9D6E3"/>
                </a:solidFill>
                <a:latin typeface="Segoe UI"/>
              </a:rPr>
              <a:t>Track new visitors (with consent), admin tools, and real live prices.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1C4"/>
                </a:solidFill>
                <a:latin typeface="Segoe UI"/>
              </a:rPr>
              <a:t>After each step we decide: go or stop. We only spend more once we have proven it works.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WHY SAY YES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We're offering a smart way of working, not just a feature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566928" cy="56692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828799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It's already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58567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A2330"/>
                </a:solidFill>
                <a:latin typeface="Segoe UI"/>
              </a:rPr>
              <a:t>The engine is in our code today. We just need to fix it, measure it, and switch it on — not start over.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98647"/>
            <a:ext cx="566928" cy="566928"/>
          </a:xfrm>
          <a:prstGeom prst="ellips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85292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Honest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82695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A2330"/>
                </a:solidFill>
                <a:latin typeface="Segoe UI"/>
              </a:rPr>
              <a:t>Every estimate is marked as an estimate. We promise to replace guesses with our own real data.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922775"/>
            <a:ext cx="566928" cy="56692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877055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Safety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306823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A2330"/>
                </a:solidFill>
                <a:latin typeface="Segoe UI"/>
              </a:rPr>
              <a:t>Phase 1 removes the legal risk from fake prices before anything reaches real users.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946903"/>
            <a:ext cx="566928" cy="566928"/>
          </a:xfrm>
          <a:prstGeom prst="ellips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901183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47"/>
                </a:solidFill>
                <a:latin typeface="Segoe UI Semibold"/>
              </a:rPr>
              <a:t>Easy to measure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330951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A2330"/>
                </a:solidFill>
                <a:latin typeface="Segoe UI"/>
              </a:rPr>
              <a:t>A built-in test group lets us prove it works — or stop early — instead of guessing.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6B5C"/>
                </a:solidFill>
                <a:latin typeface="Segoe UI Semibold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Segoe UI Semibold"/>
              </a:rPr>
              <a:t>Four people. One shared goal.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81328"/>
            <a:ext cx="822960" cy="82296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26151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2615184" cy="146304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81912" y="2468880"/>
            <a:ext cx="914400" cy="914400"/>
          </a:xfrm>
          <a:prstGeom prst="ellips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 Semibold"/>
              </a:rPr>
              <a:t>PL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Your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6B5C"/>
                </a:solidFill>
                <a:latin typeface="Segoe UI Semibold"/>
              </a:rPr>
              <a:t>Product &amp; Research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72000"/>
            <a:ext cx="21579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Owns the problem and the business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965960"/>
            <a:ext cx="26151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65960"/>
            <a:ext cx="2615184" cy="146304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15968" y="2468880"/>
            <a:ext cx="914400" cy="914400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 Semibold"/>
              </a:rPr>
              <a:t>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566160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Your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97764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Backend / Data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4572000"/>
            <a:ext cx="21579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Scoring, background jobs &amp; connections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965960"/>
            <a:ext cx="26151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965960"/>
            <a:ext cx="2615184" cy="146304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50024" y="2468880"/>
            <a:ext cx="914400" cy="914400"/>
          </a:xfrm>
          <a:prstGeom prst="ellipse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 Semibold"/>
              </a:rPr>
              <a:t>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3566160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Your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97764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B34D"/>
                </a:solidFill>
                <a:latin typeface="Segoe UI Semibold"/>
              </a:rPr>
              <a:t>Frontend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572000"/>
            <a:ext cx="21579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Home page, recommendations &amp; tracking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3688" y="1965960"/>
            <a:ext cx="261518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1965960"/>
            <a:ext cx="2615184" cy="146304"/>
          </a:xfrm>
          <a:prstGeom prst="rect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784080" y="2468880"/>
            <a:ext cx="914400" cy="914400"/>
          </a:xfrm>
          <a:prstGeom prst="ellipse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Segoe UI Semibold"/>
              </a:rPr>
              <a:t>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3566160"/>
            <a:ext cx="2249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47"/>
                </a:solidFill>
                <a:latin typeface="Segoe UI Semibold"/>
              </a:rPr>
              <a:t>Your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8" y="397764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2375C"/>
                </a:solidFill>
                <a:latin typeface="Segoe UI Semibold"/>
              </a:rPr>
              <a:t>Testing &amp; Quality Lead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4572000"/>
            <a:ext cx="21579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Testing, measurement &amp;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Segoe UI"/>
              </a:rPr>
              <a:t>Tip: replace the initials and "Your Name" with each teammate's real name and photo before presenting.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DataArt Travel  ·  Smart Travel Personalization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AEBAC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9C3B1"/>
                </a:solidFill>
                <a:latin typeface="Segoe UI Semibold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Say yes to </a:t>
            </a:r>
            <a:r>
              <a:rPr sz="3400" b="1">
                <a:solidFill>
                  <a:srgbClr val="FF6B5C"/>
                </a:solidFill>
                <a:latin typeface="Segoe UI Semibold"/>
              </a:rPr>
              <a:t>Phase 1 + 2</a:t>
            </a:r>
            <a:r>
              <a:rPr sz="3400" b="1">
                <a:solidFill>
                  <a:srgbClr val="FFFFFF"/>
                </a:solidFill>
                <a:latin typeface="Segoe UI Semibold"/>
              </a:rPr>
              <a:t> — fix, then measure.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822960" cy="82296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74720" cy="1828800"/>
          </a:xfrm>
          <a:prstGeom prst="roundRect">
            <a:avLst>
              <a:gd name="adj" fmla="val 7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F6B5C"/>
                </a:solidFill>
                <a:latin typeface="Segoe UI Semibold"/>
              </a:rPr>
              <a:t>~9–12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0896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6E3"/>
                </a:solidFill>
                <a:latin typeface="Segoe UI"/>
              </a:rPr>
              <a:t>of work to remove risk and set up proper measurement.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240280"/>
            <a:ext cx="3474720" cy="1828800"/>
          </a:xfrm>
          <a:prstGeom prst="roundRect">
            <a:avLst>
              <a:gd name="adj" fmla="val 7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5146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19C3B1"/>
                </a:solidFill>
                <a:latin typeface="Segoe UI Semibold"/>
              </a:rPr>
              <a:t>1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310896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6E3"/>
                </a:solidFill>
                <a:latin typeface="Segoe UI"/>
              </a:rPr>
              <a:t>30 days of real data, then a clear go / stop choice on Phase 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2240280"/>
            <a:ext cx="3474720" cy="1828800"/>
          </a:xfrm>
          <a:prstGeom prst="roundRect">
            <a:avLst>
              <a:gd name="adj" fmla="val 7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5146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FB34D"/>
                </a:solidFill>
                <a:latin typeface="Segoe UI Semibold"/>
              </a:rPr>
              <a:t>0 downside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10896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6E3"/>
                </a:solidFill>
                <a:latin typeface="Segoe UI"/>
              </a:rPr>
              <a:t>Phase 1 only removes risk — it pays for itself no matter what.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52760" cy="1417320"/>
          </a:xfrm>
          <a:prstGeom prst="roundRect">
            <a:avLst>
              <a:gd name="adj" fmla="val 8000"/>
            </a:avLst>
          </a:prstGeom>
          <a:solidFill>
            <a:srgbClr val="18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434840"/>
            <a:ext cx="109728" cy="1417320"/>
          </a:xfrm>
          <a:prstGeom prst="rect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81728"/>
            <a:ext cx="10149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9C3B1"/>
                </a:solidFill>
                <a:latin typeface="Segoe UI Semibold"/>
              </a:rPr>
              <a:t>Our vision:  </a:t>
            </a:r>
            <a:r>
              <a:rPr sz="1600" b="0">
                <a:solidFill>
                  <a:srgbClr val="FFFFFF"/>
                </a:solidFill>
                <a:latin typeface="Segoe UI"/>
              </a:rPr>
              <a:t>a DataArt Travel that spots what a traveler wants the moment it shows — so the next Maya books with </a:t>
            </a:r>
            <a:r>
              <a:rPr sz="1600" b="1">
                <a:solidFill>
                  <a:srgbClr val="FF6B5C"/>
                </a:solidFill>
                <a:latin typeface="Segoe UI Semibold"/>
              </a:rPr>
              <a:t>us</a:t>
            </a:r>
            <a:r>
              <a:rPr sz="1600" b="0">
                <a:solidFill>
                  <a:srgbClr val="FFFFFF"/>
                </a:solidFill>
                <a:latin typeface="Segoe UI"/>
              </a:rPr>
              <a:t>, not someone else. Say yes to Phase 1+2, and we'll bring you the proof.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66960" y="0"/>
            <a:ext cx="2221992" cy="6858000"/>
          </a:xfrm>
          <a:prstGeom prst="rect">
            <a:avLst/>
          </a:prstGeom>
          <a:solidFill>
            <a:srgbClr val="12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966960" y="0"/>
            <a:ext cx="109728" cy="6858000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12680" y="822960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0424" y="1389888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88167" y="1956816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25911" y="2523744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3655" y="3090672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3657600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39144" y="4224528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791456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914632" y="5358384"/>
            <a:ext cx="64008" cy="64008"/>
          </a:xfrm>
          <a:prstGeom prst="ellipse">
            <a:avLst/>
          </a:prstGeom>
          <a:solidFill>
            <a:srgbClr val="19C3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11475720" y="5440680"/>
            <a:ext cx="310896" cy="310896"/>
          </a:xfrm>
          <a:prstGeom prst="triangle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8600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520440"/>
            <a:ext cx="3108960" cy="45720"/>
          </a:xfrm>
          <a:prstGeom prst="rect">
            <a:avLst/>
          </a:prstGeom>
          <a:solidFill>
            <a:srgbClr val="F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749039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9D6E3"/>
                </a:solidFill>
                <a:latin typeface="Segoe UI"/>
              </a:rPr>
              <a:t>Questions and doubts are very welcome.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7548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DataArt Travel  </a:t>
            </a:r>
            <a:r>
              <a:rPr sz="1400" b="0">
                <a:solidFill>
                  <a:srgbClr val="9FB1C4"/>
                </a:solidFill>
                <a:latin typeface="Segoe UI"/>
              </a:rPr>
              <a:t>·  MERN Personalization Squad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